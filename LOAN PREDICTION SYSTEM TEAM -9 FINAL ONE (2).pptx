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4" r:id="rId9"/>
    <p:sldId id="269" r:id="rId10"/>
    <p:sldId id="270" r:id="rId11"/>
    <p:sldId id="265" r:id="rId12"/>
    <p:sldId id="271" r:id="rId13"/>
    <p:sldId id="268" r:id="rId14"/>
    <p:sldId id="273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ECD47F-26FC-4278-BB39-33D321F7ABF5}" v="75" dt="2026-08-15T20:43:16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42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1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ESSENTIALS 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3081528" y="2286001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</a:rPr>
              <a:t>Loan Prediction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108960" y="3239763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—  Problem Statement, Dataset &amp; Initial Progress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389119"/>
            <a:ext cx="7315200" cy="457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968F1F-F2F5-0040-3230-B8FAC0E5B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499" y="364543"/>
            <a:ext cx="9997439" cy="14788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AAEAB0-C2FE-9AAE-0514-BDFD9C6F5E74}"/>
              </a:ext>
            </a:extLst>
          </p:cNvPr>
          <p:cNvSpPr txBox="1"/>
          <p:nvPr/>
        </p:nvSpPr>
        <p:spPr>
          <a:xfrm>
            <a:off x="3120980" y="4429035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B. Rohith — 25B11DS045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Ali Raza Hasan — 25B11DS016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K. Anand Sai — 25B11DS286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Vishnu Vardhan — 25B11DS212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7FB141-92B7-4B64-1B89-933796A07EA3}"/>
              </a:ext>
            </a:extLst>
          </p:cNvPr>
          <p:cNvSpPr txBox="1"/>
          <p:nvPr/>
        </p:nvSpPr>
        <p:spPr>
          <a:xfrm>
            <a:off x="3048762" y="403974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Submitted by: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 &amp; Responsibilities</a:t>
            </a:r>
            <a:endParaRPr lang="en-US" sz="300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278116"/>
              </p:ext>
            </p:extLst>
          </p:nvPr>
        </p:nvGraphicFramePr>
        <p:xfrm>
          <a:off x="559837" y="1737360"/>
          <a:ext cx="7761203" cy="2743200"/>
        </p:xfrm>
        <a:graphic>
          <a:graphicData uri="http://schemas.openxmlformats.org/drawingml/2006/table">
            <a:tbl>
              <a:tblPr/>
              <a:tblGrid>
                <a:gridCol w="2732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300"/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300"/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>
                          <a:solidFill>
                            <a:srgbClr val="323232"/>
                          </a:solidFill>
                        </a:rPr>
                        <a:t>K. VISHNU VARDHAN</a:t>
                      </a:r>
                      <a:endParaRPr lang="en-US" sz="1300"/>
                    </a:p>
                    <a:p>
                      <a:pPr marL="0" indent="0">
                        <a:buNone/>
                      </a:pPr>
                      <a:endParaRPr lang="en-US" sz="1300"/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323232"/>
                          </a:solidFill>
                        </a:rPr>
                        <a:t>Dataset selection and data understanding</a:t>
                      </a:r>
                      <a:endParaRPr lang="en-US" sz="1300"/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323232"/>
                          </a:solidFill>
                        </a:rPr>
                        <a:t>K.ANAND SAI</a:t>
                      </a:r>
                      <a:endParaRPr lang="en-US" sz="1300"/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323232"/>
                          </a:solidFill>
                        </a:rPr>
                        <a:t>Data collection and preprocessing</a:t>
                      </a:r>
                      <a:endParaRPr lang="en-US" sz="1300"/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323232"/>
                          </a:solidFill>
                        </a:rPr>
                        <a:t>ALI RAZA HASAN</a:t>
                      </a:r>
                      <a:endParaRPr lang="en-US" sz="1300"/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323232"/>
                          </a:solidFill>
                        </a:rPr>
                        <a:t>Exploratory data analysis (EDA)</a:t>
                      </a:r>
                      <a:endParaRPr lang="en-US" sz="1300"/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323232"/>
                          </a:solidFill>
                        </a:rPr>
                        <a:t>B.ROHITH</a:t>
                      </a:r>
                      <a:endParaRPr lang="en-US" sz="1300"/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323232"/>
                          </a:solidFill>
                        </a:rPr>
                        <a:t>Documentation and presentation</a:t>
                      </a:r>
                      <a:endParaRPr lang="en-US" sz="1300"/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4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62C5D4-020A-0858-4E1B-8DD4810DE526}"/>
              </a:ext>
            </a:extLst>
          </p:cNvPr>
          <p:cNvSpPr txBox="1"/>
          <p:nvPr/>
        </p:nvSpPr>
        <p:spPr>
          <a:xfrm>
            <a:off x="1915886" y="4136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3C226E-88BD-1B2A-6F17-58C8553E7676}"/>
              </a:ext>
            </a:extLst>
          </p:cNvPr>
          <p:cNvSpPr txBox="1"/>
          <p:nvPr/>
        </p:nvSpPr>
        <p:spPr>
          <a:xfrm>
            <a:off x="1763486" y="2612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463DD79-E517-4156-3DD2-6DDED02EB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0" y="84505"/>
            <a:ext cx="1392594" cy="51724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436914" y="914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7512" y="2751826"/>
            <a:ext cx="10789920" cy="4974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3">
              <a:lnSpc>
                <a:spcPct val="150000"/>
              </a:lnSpc>
              <a:spcAft>
                <a:spcPts val="1000"/>
              </a:spcAft>
              <a:buSzPct val="100000"/>
            </a:pP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981151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C4FEA4-14F2-B4C3-F155-A749C7187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0" y="84505"/>
            <a:ext cx="1392594" cy="5172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69273F-3A42-1597-4C49-793F8B97DAF2}"/>
              </a:ext>
            </a:extLst>
          </p:cNvPr>
          <p:cNvSpPr txBox="1"/>
          <p:nvPr/>
        </p:nvSpPr>
        <p:spPr>
          <a:xfrm>
            <a:off x="1436914" y="661154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Problem Statement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DACFEC-B1DA-BBDF-7CC4-2407CE8FDB3F}"/>
              </a:ext>
            </a:extLst>
          </p:cNvPr>
          <p:cNvSpPr txBox="1"/>
          <p:nvPr/>
        </p:nvSpPr>
        <p:spPr>
          <a:xfrm>
            <a:off x="1309878" y="1432393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Loan approval depends on multiple </a:t>
            </a:r>
            <a:r>
              <a:rPr lang="en-IN" b="1" dirty="0"/>
              <a:t>applicant and financial factors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Banks need to </a:t>
            </a:r>
            <a:r>
              <a:rPr lang="en-IN" dirty="0" err="1"/>
              <a:t>analyze</a:t>
            </a:r>
            <a:r>
              <a:rPr lang="en-IN" dirty="0"/>
              <a:t> applicant information to understand </a:t>
            </a:r>
            <a:r>
              <a:rPr lang="en-IN" b="1" dirty="0"/>
              <a:t>loan approval patterns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Factors such as </a:t>
            </a:r>
            <a:r>
              <a:rPr lang="en-IN" b="1" dirty="0"/>
              <a:t>income, loan amount, CIBIL score, and asset values</a:t>
            </a:r>
            <a:r>
              <a:rPr lang="en-IN" dirty="0"/>
              <a:t> may influence approval.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project </a:t>
            </a:r>
            <a:r>
              <a:rPr lang="en-IN" dirty="0" err="1"/>
              <a:t>analyzes</a:t>
            </a:r>
            <a:r>
              <a:rPr lang="en-IN" dirty="0"/>
              <a:t> historical loan data to identify patterns between </a:t>
            </a:r>
            <a:r>
              <a:rPr lang="en-IN" b="1" dirty="0"/>
              <a:t>approved and rejected applications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Review-1 focuses on data collection, preprocessing, and exploratory data analysis (EDA)</a:t>
            </a:r>
            <a:r>
              <a:rPr lang="en-IN" dirty="0"/>
              <a:t> as the foundation for future prediction.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9C7470-3A0E-3539-FFD7-0BFC0C972504}"/>
              </a:ext>
            </a:extLst>
          </p:cNvPr>
          <p:cNvSpPr txBox="1"/>
          <p:nvPr/>
        </p:nvSpPr>
        <p:spPr>
          <a:xfrm>
            <a:off x="1593342" y="5031289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Problem:</a:t>
            </a:r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and prepare loan application data to identify factors associated with loan approval.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0C91A6-C1E0-C9ED-D80A-370D37B8E6FD}"/>
              </a:ext>
            </a:extLst>
          </p:cNvPr>
          <p:cNvSpPr/>
          <p:nvPr/>
        </p:nvSpPr>
        <p:spPr>
          <a:xfrm>
            <a:off x="1593342" y="4937760"/>
            <a:ext cx="8675370" cy="7398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/>
              <a:t>Problem:</a:t>
            </a:r>
            <a:r>
              <a:rPr lang="en-IN"/>
              <a:t> Analyze and prepare loan application data to identify factors associated with loan approval.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2B6BD-9C3C-DEF0-BE62-4BA022A9468E}"/>
              </a:ext>
            </a:extLst>
          </p:cNvPr>
          <p:cNvSpPr/>
          <p:nvPr/>
        </p:nvSpPr>
        <p:spPr>
          <a:xfrm>
            <a:off x="1309878" y="668137"/>
            <a:ext cx="3025358" cy="5052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Problem Statement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OBJECTIVES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loan application data</a:t>
            </a:r>
            <a:endParaRPr lang="en-US" sz="1500" dirty="0"/>
          </a:p>
          <a:p>
            <a:pPr marL="0" lvl="1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IN" sz="1600" dirty="0"/>
              <a:t>Understand applicant information such as income, loan amount, education, CIBIL score, and asset values.</a:t>
            </a:r>
            <a:endParaRPr lang="en-US" sz="1500" dirty="0"/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Preprocess the data</a:t>
            </a:r>
            <a:endParaRPr lang="en-US" sz="1500" dirty="0"/>
          </a:p>
          <a:p>
            <a:pPr marL="0" lvl="1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IN" sz="1600" dirty="0"/>
              <a:t>Identify and handle missing values and prepare the data for analysis.</a:t>
            </a:r>
            <a:endParaRPr lang="en-US" sz="1500" dirty="0"/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loan approval patterns</a:t>
            </a:r>
            <a:endParaRPr lang="en-US" sz="1500" dirty="0"/>
          </a:p>
          <a:p>
            <a:pPr marL="0" lvl="1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IN" sz="1600" dirty="0"/>
              <a:t>Use charts and visualizations to understand how different factors are related to loan approval.</a:t>
            </a:r>
            <a:endParaRPr lang="en-US" sz="1500" dirty="0"/>
          </a:p>
          <a:p>
            <a:pPr marL="228600" indent="-2286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important approval factors</a:t>
            </a:r>
            <a:endParaRPr lang="en-US" sz="1500" dirty="0"/>
          </a:p>
          <a:p>
            <a:pPr marL="0" lvl="1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IN" sz="1600" dirty="0"/>
              <a:t>Compare loan approval patterns based on education, self-employment status, CIBIL score, and financial features.</a:t>
            </a:r>
          </a:p>
          <a:p>
            <a:pPr marL="0" lvl="1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IN" sz="1600" dirty="0"/>
              <a:t>• </a:t>
            </a:r>
            <a:r>
              <a:rPr lang="en-IN" sz="1600" dirty="0">
                <a:solidFill>
                  <a:srgbClr val="002060"/>
                </a:solidFill>
              </a:rPr>
              <a:t>Prepare data for future prediction</a:t>
            </a:r>
          </a:p>
          <a:p>
            <a:pPr marL="0" lvl="1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IN" sz="1600" dirty="0"/>
              <a:t>Organize the cleaned dataset for future analysis and prediction.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981151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511BBD-0486-3E92-22F6-0B3C701C5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0" y="84505"/>
            <a:ext cx="1392594" cy="51724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07423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DATASET SELECTION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selection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IN" sz="1400"/>
              <a:t>We selected a </a:t>
            </a:r>
            <a:r>
              <a:rPr lang="en-IN" sz="1400" b="1"/>
              <a:t>Loan Prediction dataset</a:t>
            </a:r>
            <a:r>
              <a:rPr lang="en-IN" sz="1400"/>
              <a:t> containing applicant information and loan approval status. The dataset is used to understand the factors associated with loan approval.</a:t>
            </a: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365760" y="4666363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/>
              <a:t>The dataset provides applicant-level information that can be cleaned, explored and visualized to identify patterns related to loan approval.</a:t>
            </a:r>
            <a:endParaRPr lang="en-US" sz="1250" b="1" dirty="0"/>
          </a:p>
        </p:txBody>
      </p:sp>
      <p:sp>
        <p:nvSpPr>
          <p:cNvPr id="5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8" name="Text 5"/>
          <p:cNvSpPr/>
          <p:nvPr/>
        </p:nvSpPr>
        <p:spPr>
          <a:xfrm>
            <a:off x="981151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72A6BE-B500-CA88-5E61-BCFEDEB44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0" y="84505"/>
            <a:ext cx="1392594" cy="5172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0C2D1C-AB3E-681E-5374-175E9726A765}"/>
              </a:ext>
            </a:extLst>
          </p:cNvPr>
          <p:cNvSpPr txBox="1"/>
          <p:nvPr/>
        </p:nvSpPr>
        <p:spPr>
          <a:xfrm>
            <a:off x="702005" y="2423160"/>
            <a:ext cx="609407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Dataset Selected:</a:t>
            </a:r>
            <a:r>
              <a:rPr lang="en-IN" sz="1400" dirty="0"/>
              <a:t> Loan Prediction Dataset</a:t>
            </a:r>
            <a:br>
              <a:rPr lang="en-IN" sz="1400" dirty="0"/>
            </a:br>
            <a:r>
              <a:rPr lang="en-IN" sz="1400" b="1" dirty="0"/>
              <a:t>Source:</a:t>
            </a:r>
            <a:r>
              <a:rPr lang="en-IN" sz="1400" dirty="0"/>
              <a:t> Kaggle</a:t>
            </a:r>
            <a:br>
              <a:rPr lang="en-IN" sz="1400" dirty="0"/>
            </a:br>
            <a:r>
              <a:rPr lang="en-IN" sz="1400" b="1" dirty="0"/>
              <a:t>File format:</a:t>
            </a:r>
            <a:r>
              <a:rPr lang="en-IN" sz="1400" dirty="0"/>
              <a:t> CSV</a:t>
            </a:r>
            <a:br>
              <a:rPr lang="en-IN" sz="1400" dirty="0"/>
            </a:br>
            <a:r>
              <a:rPr lang="en-IN" sz="1400" b="1" dirty="0"/>
              <a:t>Total records:</a:t>
            </a:r>
            <a:r>
              <a:rPr lang="en-IN" sz="1400" dirty="0"/>
              <a:t> 4,269</a:t>
            </a:r>
            <a:br>
              <a:rPr lang="en-IN" sz="1400" dirty="0"/>
            </a:br>
            <a:r>
              <a:rPr lang="en-IN" sz="1400" b="1" dirty="0"/>
              <a:t>Total attributes:</a:t>
            </a:r>
            <a:r>
              <a:rPr lang="en-IN" sz="1400" dirty="0"/>
              <a:t> 13</a:t>
            </a:r>
            <a:br>
              <a:rPr lang="en-IN" sz="1400" dirty="0"/>
            </a:br>
            <a:r>
              <a:rPr lang="en-IN" sz="1400" b="1" dirty="0"/>
              <a:t>Contains:</a:t>
            </a:r>
            <a:r>
              <a:rPr lang="en-IN" sz="1400" dirty="0"/>
              <a:t> Numerical and categorical features</a:t>
            </a:r>
            <a:br>
              <a:rPr lang="en-IN" sz="1400" dirty="0"/>
            </a:b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Target variable</a:t>
            </a:r>
            <a:r>
              <a:rPr lang="en-IN" sz="1400" dirty="0"/>
              <a:t>: </a:t>
            </a:r>
            <a:r>
              <a:rPr lang="en-IN" sz="1400" dirty="0" err="1"/>
              <a:t>Loan_Status</a:t>
            </a:r>
            <a:r>
              <a:rPr lang="en-IN" sz="1400" dirty="0"/>
              <a:t> (Y = Approved, N = Rejected)</a:t>
            </a:r>
            <a:br>
              <a:rPr lang="en-IN" sz="1400" dirty="0"/>
            </a:br>
            <a:r>
              <a:rPr lang="en-IN" sz="1400" b="1" dirty="0"/>
              <a:t>Suitable for:</a:t>
            </a:r>
            <a:r>
              <a:rPr lang="en-IN" sz="1400" dirty="0"/>
              <a:t> Data preprocessing, EDA and loan prediction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ECD10F-2B68-E21A-1848-CD26D0AF437F}"/>
              </a:ext>
            </a:extLst>
          </p:cNvPr>
          <p:cNvSpPr txBox="1"/>
          <p:nvPr/>
        </p:nvSpPr>
        <p:spPr>
          <a:xfrm>
            <a:off x="6645402" y="2503194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ApplicantIncome</a:t>
            </a:r>
            <a:r>
              <a:rPr lang="en-IN" dirty="0"/>
              <a:t> – applicant's income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LoanAmount</a:t>
            </a:r>
            <a:r>
              <a:rPr lang="en-IN" dirty="0"/>
              <a:t> – requested loan amount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Credit_History</a:t>
            </a:r>
            <a:r>
              <a:rPr lang="en-IN" dirty="0"/>
              <a:t> – credit history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Education</a:t>
            </a:r>
            <a:r>
              <a:rPr lang="en-IN" dirty="0"/>
              <a:t> – education level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Self_Employed</a:t>
            </a:r>
            <a:r>
              <a:rPr lang="en-IN" dirty="0"/>
              <a:t> – employment status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Property_Area</a:t>
            </a:r>
            <a:r>
              <a:rPr lang="en-IN" dirty="0"/>
              <a:t> – property location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69086F-69E4-96B7-58FB-03135700B3D8}"/>
              </a:ext>
            </a:extLst>
          </p:cNvPr>
          <p:cNvSpPr txBox="1"/>
          <p:nvPr/>
        </p:nvSpPr>
        <p:spPr>
          <a:xfrm>
            <a:off x="7034022" y="2076363"/>
            <a:ext cx="6368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Key Features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8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DATA COLLECTION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</a:rPr>
              <a:t>Dataset collection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  <a:spcAft>
                <a:spcPts val="1000"/>
              </a:spcAft>
              <a:buSzPct val="100000"/>
            </a:pP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548640" y="3837622"/>
            <a:ext cx="10881360" cy="1191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/>
              <a:t>Process</a:t>
            </a:r>
            <a:endParaRPr lang="en-IN" sz="2000" b="1"/>
          </a:p>
          <a:p>
            <a:r>
              <a:rPr lang="en-IN" sz="2800"/>
              <a:t>Kaggle → CSV → Google </a:t>
            </a:r>
            <a:r>
              <a:rPr lang="en-IN" sz="2800" err="1"/>
              <a:t>Colab</a:t>
            </a:r>
            <a:r>
              <a:rPr lang="en-IN" sz="2800"/>
              <a:t> → Pandas </a:t>
            </a:r>
            <a:r>
              <a:rPr lang="en-IN" sz="2800" err="1"/>
              <a:t>DataFrame</a:t>
            </a:r>
            <a:r>
              <a:rPr lang="en-IN" sz="2800"/>
              <a:t> → Data Analysis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981151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BF6E14-8FF0-9C28-8EE2-BEFB872E1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0" y="84505"/>
            <a:ext cx="1392594" cy="5172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A6DCA7-CCE8-8673-B0DB-612DD20E9428}"/>
              </a:ext>
            </a:extLst>
          </p:cNvPr>
          <p:cNvSpPr txBox="1"/>
          <p:nvPr/>
        </p:nvSpPr>
        <p:spPr>
          <a:xfrm>
            <a:off x="548640" y="1695230"/>
            <a:ext cx="6272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 Collection Process</a:t>
            </a:r>
          </a:p>
          <a:p>
            <a:pPr lvl="0"/>
            <a:r>
              <a:rPr lang="en-IN" dirty="0"/>
              <a:t>•Loan Prediction dataset downloaded from Kaggle in </a:t>
            </a:r>
            <a:r>
              <a:rPr lang="en-IN" b="1" dirty="0"/>
              <a:t>CSV format</a:t>
            </a:r>
          </a:p>
          <a:p>
            <a:pPr lvl="0"/>
            <a:r>
              <a:rPr lang="en-IN" dirty="0"/>
              <a:t>•Dataset imported into </a:t>
            </a:r>
            <a:r>
              <a:rPr lang="en-IN" b="1" dirty="0"/>
              <a:t>Google </a:t>
            </a:r>
            <a:r>
              <a:rPr lang="en-IN" b="1" dirty="0" err="1"/>
              <a:t>Colab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•</a:t>
            </a:r>
            <a:r>
              <a:rPr lang="en-IN" b="1" dirty="0"/>
              <a:t>Pandas</a:t>
            </a:r>
            <a:r>
              <a:rPr lang="en-IN" dirty="0"/>
              <a:t> used to read the CSV file </a:t>
            </a:r>
          </a:p>
          <a:p>
            <a:pPr lvl="0"/>
            <a:r>
              <a:rPr lang="en-IN" dirty="0"/>
              <a:t>•Data stored in a </a:t>
            </a:r>
            <a:r>
              <a:rPr lang="en-IN" b="1" dirty="0"/>
              <a:t>Pandas </a:t>
            </a:r>
            <a:r>
              <a:rPr lang="en-IN" b="1" dirty="0" err="1"/>
              <a:t>DataFrame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•Initial records inspected using head() </a:t>
            </a:r>
          </a:p>
          <a:p>
            <a:pPr lvl="0"/>
            <a:r>
              <a:rPr lang="en-IN" dirty="0"/>
              <a:t>•Dataset structure verified using info()</a:t>
            </a:r>
          </a:p>
          <a:p>
            <a:endParaRPr lang="en-IN" b="1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DATASET UNDERSTANDING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3864"/>
                </a:solidFill>
                <a:latin typeface="Cambria" pitchFamily="34" charset="0"/>
                <a:ea typeface="Cambria" pitchFamily="34" charset="-122"/>
              </a:rPr>
              <a:t>Dataset understanding</a:t>
            </a:r>
            <a:endParaRPr lang="en-US" sz="3000"/>
          </a:p>
        </p:txBody>
      </p:sp>
      <p:sp>
        <p:nvSpPr>
          <p:cNvPr id="6" name="Text 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7" name="Text 3"/>
          <p:cNvSpPr/>
          <p:nvPr/>
        </p:nvSpPr>
        <p:spPr>
          <a:xfrm>
            <a:off x="981151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901DF-A1D2-F66A-9204-8B80109C7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0" y="84505"/>
            <a:ext cx="1392594" cy="5172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E4BE80-0348-5C08-81F6-17FFA2D0F254}"/>
              </a:ext>
            </a:extLst>
          </p:cNvPr>
          <p:cNvSpPr txBox="1"/>
          <p:nvPr/>
        </p:nvSpPr>
        <p:spPr>
          <a:xfrm>
            <a:off x="548640" y="1770926"/>
            <a:ext cx="57479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Loaded dataset using Pandas.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Inspected sample records using </a:t>
            </a:r>
            <a:r>
              <a:rPr lang="en-IN" dirty="0"/>
              <a:t>head()</a:t>
            </a:r>
            <a:r>
              <a:rPr lang="en-IN" sz="1600" dirty="0"/>
              <a:t> and </a:t>
            </a:r>
            <a:r>
              <a:rPr lang="en-IN" dirty="0"/>
              <a:t>tail()</a:t>
            </a:r>
            <a:r>
              <a:rPr lang="en-IN" sz="1600" dirty="0"/>
              <a:t>.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Checked dataset structure using </a:t>
            </a:r>
            <a:r>
              <a:rPr lang="en-IN" dirty="0"/>
              <a:t>df.info()</a:t>
            </a:r>
            <a:r>
              <a:rPr lang="en-IN" sz="1600" dirty="0"/>
              <a:t>.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column names and data types.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Verified dataset size: 4,269 rows × 13 columns.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important loan-related features for analysis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D3E838-16BF-592A-5CE2-6677D1D8E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0956"/>
            <a:ext cx="5764916" cy="630272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PREPROCESSING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Data Preprocessing &amp; Cleaning</a:t>
            </a:r>
            <a:endParaRPr lang="en-US" sz="3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1000"/>
              </a:spcAft>
              <a:buSzPct val="100000"/>
            </a:pPr>
            <a:endParaRPr lang="en-US" sz="1250"/>
          </a:p>
          <a:p>
            <a:pPr marL="0" lvl="1" indent="0">
              <a:lnSpc>
                <a:spcPct val="125000"/>
              </a:lnSpc>
              <a:spcAft>
                <a:spcPts val="1000"/>
              </a:spcAft>
              <a:buNone/>
            </a:pP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6172200" y="169164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1000"/>
              </a:spcAft>
              <a:buSzPct val="100000"/>
            </a:pP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981151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DD085C-5F89-C8D0-DCDF-045E0D830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0" y="84505"/>
            <a:ext cx="1392594" cy="5172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12E347-C0F9-6099-F18F-FAD3B8B016DA}"/>
              </a:ext>
            </a:extLst>
          </p:cNvPr>
          <p:cNvSpPr txBox="1"/>
          <p:nvPr/>
        </p:nvSpPr>
        <p:spPr>
          <a:xfrm>
            <a:off x="624840" y="1696602"/>
            <a:ext cx="4913781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Preprocessing Steps</a:t>
            </a:r>
          </a:p>
          <a:p>
            <a:pPr lvl="0"/>
            <a:r>
              <a:rPr lang="en-IN" sz="1600" dirty="0"/>
              <a:t>•Checked for missing values. </a:t>
            </a:r>
          </a:p>
          <a:p>
            <a:pPr lvl="0"/>
            <a:r>
              <a:rPr lang="en-IN" sz="1600" dirty="0"/>
              <a:t>•Checked for duplicate records — </a:t>
            </a:r>
            <a:r>
              <a:rPr lang="en-IN" sz="1600" b="1" dirty="0"/>
              <a:t>0 duplicates found</a:t>
            </a:r>
            <a:endParaRPr lang="en-IN" sz="1600" dirty="0"/>
          </a:p>
          <a:p>
            <a:pPr lvl="0"/>
            <a:r>
              <a:rPr lang="en-IN" sz="1600" dirty="0"/>
              <a:t>•Verified data types. </a:t>
            </a:r>
          </a:p>
          <a:p>
            <a:pPr lvl="0"/>
            <a:r>
              <a:rPr lang="en-IN" sz="1600" dirty="0"/>
              <a:t>•Checked the dataset structure. </a:t>
            </a:r>
          </a:p>
          <a:p>
            <a:pPr lvl="0"/>
            <a:r>
              <a:rPr lang="en-IN" sz="1600" dirty="0"/>
              <a:t>•Verified numerical and categorical features. </a:t>
            </a:r>
          </a:p>
          <a:p>
            <a:pPr lvl="0"/>
            <a:r>
              <a:rPr lang="en-IN" sz="1600" dirty="0"/>
              <a:t>•Confirmed that all 4,269 records have complete values. </a:t>
            </a:r>
          </a:p>
          <a:p>
            <a:pPr lvl="0"/>
            <a:r>
              <a:rPr lang="en-IN" sz="1600" dirty="0"/>
              <a:t>•Prepared clean data for loan prediction analysis. </a:t>
            </a:r>
            <a:endParaRPr lang="en-IN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8C8957-C6ED-F4E6-1202-D830A9A716E8}"/>
              </a:ext>
            </a:extLst>
          </p:cNvPr>
          <p:cNvSpPr txBox="1"/>
          <p:nvPr/>
        </p:nvSpPr>
        <p:spPr>
          <a:xfrm>
            <a:off x="740617" y="3862251"/>
            <a:ext cx="494077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Functions Used</a:t>
            </a:r>
          </a:p>
          <a:p>
            <a:pPr lvl="0"/>
            <a:r>
              <a:rPr lang="en-IN" dirty="0"/>
              <a:t>• </a:t>
            </a:r>
            <a:r>
              <a:rPr lang="en-IN" dirty="0" err="1"/>
              <a:t>df.isnull</a:t>
            </a:r>
            <a:r>
              <a:rPr lang="en-IN" dirty="0"/>
              <a:t>().sum() — check missing values </a:t>
            </a:r>
          </a:p>
          <a:p>
            <a:pPr lvl="0"/>
            <a:r>
              <a:rPr lang="en-IN" dirty="0"/>
              <a:t>• </a:t>
            </a:r>
            <a:r>
              <a:rPr lang="en-IN" dirty="0" err="1"/>
              <a:t>df.duplicated</a:t>
            </a:r>
            <a:r>
              <a:rPr lang="en-IN" dirty="0"/>
              <a:t>().sum() — check duplicate records </a:t>
            </a:r>
          </a:p>
          <a:p>
            <a:pPr lvl="0"/>
            <a:r>
              <a:rPr lang="en-IN" dirty="0"/>
              <a:t>• </a:t>
            </a:r>
            <a:r>
              <a:rPr lang="en-IN" dirty="0" err="1"/>
              <a:t>df.drop_duplicates</a:t>
            </a:r>
            <a:r>
              <a:rPr lang="en-IN" dirty="0"/>
              <a:t>() — remove duplicate records</a:t>
            </a:r>
          </a:p>
          <a:p>
            <a:pPr lvl="0"/>
            <a:r>
              <a:rPr lang="en-IN" dirty="0"/>
              <a:t>• df.info() — check data types and structure </a:t>
            </a:r>
          </a:p>
          <a:p>
            <a:pPr lvl="0"/>
            <a:r>
              <a:rPr lang="en-IN" dirty="0"/>
              <a:t>• </a:t>
            </a:r>
            <a:r>
              <a:rPr lang="en-IN" dirty="0" err="1"/>
              <a:t>df.shape</a:t>
            </a:r>
            <a:r>
              <a:rPr lang="en-IN" dirty="0"/>
              <a:t> — verify dataset dimensions</a:t>
            </a: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89846A3-3625-C50C-2406-7C8B71189B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00800" y="685800"/>
            <a:ext cx="5225335" cy="51155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968184-79D1-52BE-3C0C-5D3AD0982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0" y="84505"/>
            <a:ext cx="1392594" cy="5172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BE86FD-2213-036F-023B-871A4330B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0" y="2996630"/>
            <a:ext cx="9001760" cy="30350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016278-57AE-F9C6-6CF4-7B0CD2697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4526" y="0"/>
            <a:ext cx="3847474" cy="33341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937BFE-F989-3807-6D57-2A06DD4F7EAF}"/>
              </a:ext>
            </a:extLst>
          </p:cNvPr>
          <p:cNvSpPr txBox="1"/>
          <p:nvPr/>
        </p:nvSpPr>
        <p:spPr>
          <a:xfrm>
            <a:off x="2690622" y="5881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Initial Dataset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623715-CE5F-D601-CC2E-7165CDD894B0}"/>
              </a:ext>
            </a:extLst>
          </p:cNvPr>
          <p:cNvSpPr txBox="1"/>
          <p:nvPr/>
        </p:nvSpPr>
        <p:spPr>
          <a:xfrm>
            <a:off x="3323082" y="383617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Basic Dataset Inspection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AB485B-B16B-ACFC-E8F8-834F831F1C3E}"/>
              </a:ext>
            </a:extLst>
          </p:cNvPr>
          <p:cNvSpPr txBox="1"/>
          <p:nvPr/>
        </p:nvSpPr>
        <p:spPr>
          <a:xfrm>
            <a:off x="477774" y="1345693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df.head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 → inspected sample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df.info()</a:t>
            </a:r>
            <a:r>
              <a:rPr lang="en-IN" dirty="0"/>
              <a:t> → checked structure and data types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df.shape</a:t>
            </a:r>
            <a:r>
              <a:rPr lang="en-IN" dirty="0"/>
              <a:t> → verified dataset dimensions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df.columns</a:t>
            </a:r>
            <a:r>
              <a:rPr lang="en-IN" dirty="0"/>
              <a:t> → identified available features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df.dtypes</a:t>
            </a:r>
            <a:r>
              <a:rPr lang="en-IN" dirty="0"/>
              <a:t> → identified data types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AE689A-72E4-15ED-0C1C-02C299BCEEEA}"/>
              </a:ext>
            </a:extLst>
          </p:cNvPr>
          <p:cNvSpPr txBox="1"/>
          <p:nvPr/>
        </p:nvSpPr>
        <p:spPr>
          <a:xfrm>
            <a:off x="651510" y="90086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Functions Used for Initial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57CF68-D3C0-BC17-4517-518813F2460A}"/>
              </a:ext>
            </a:extLst>
          </p:cNvPr>
          <p:cNvSpPr txBox="1"/>
          <p:nvPr/>
        </p:nvSpPr>
        <p:spPr>
          <a:xfrm>
            <a:off x="255919" y="5971246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Implementation Result:</a:t>
            </a:r>
            <a:br>
              <a:rPr lang="en-IN" dirty="0"/>
            </a:br>
            <a:r>
              <a:rPr lang="en-IN" dirty="0"/>
              <a:t>Successfully loaded and inspected </a:t>
            </a:r>
            <a:r>
              <a:rPr lang="en-IN" b="1" dirty="0"/>
              <a:t>4,269 records and 13 features</a:t>
            </a:r>
            <a:r>
              <a:rPr lang="en-IN" dirty="0"/>
              <a:t> using Pandas.</a:t>
            </a:r>
          </a:p>
        </p:txBody>
      </p:sp>
    </p:spTree>
    <p:extLst>
      <p:ext uri="{BB962C8B-B14F-4D97-AF65-F5344CB8AC3E}">
        <p14:creationId xmlns:p14="http://schemas.microsoft.com/office/powerpoint/2010/main" val="80073437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D050F0-8D27-36EE-FB73-01C7FA8C1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0" y="84505"/>
            <a:ext cx="1392594" cy="5172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B9989E-2671-F9D3-DCAA-48D6CB120E41}"/>
              </a:ext>
            </a:extLst>
          </p:cNvPr>
          <p:cNvSpPr txBox="1"/>
          <p:nvPr/>
        </p:nvSpPr>
        <p:spPr>
          <a:xfrm>
            <a:off x="313962" y="601754"/>
            <a:ext cx="60178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Exploratory Data Analysis (EDA) – Correlation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3E0E98-4012-3D9B-F56C-589015EAED2B}"/>
              </a:ext>
            </a:extLst>
          </p:cNvPr>
          <p:cNvSpPr txBox="1"/>
          <p:nvPr/>
        </p:nvSpPr>
        <p:spPr>
          <a:xfrm>
            <a:off x="201678" y="1377234"/>
            <a:ext cx="66367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Analyzed</a:t>
            </a:r>
            <a:r>
              <a:rPr lang="en-IN" dirty="0"/>
              <a:t> relationships between numerical features.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Used correlation analysis to identify relationships between variables.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Visualized correlations using a heatmap.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Income and loan amount show a strong positive correlation (0.93).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Asset values also show positive relationships with income and loan amount.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Credit score has relatively weak correlation with the other numerical variables.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7DC8A7-6CEA-776D-D8C0-9E8A92D6F6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01431" y="1"/>
            <a:ext cx="5487052" cy="67816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6382A8-2F47-EAE9-B50D-F26D248B049F}"/>
              </a:ext>
            </a:extLst>
          </p:cNvPr>
          <p:cNvSpPr txBox="1"/>
          <p:nvPr/>
        </p:nvSpPr>
        <p:spPr>
          <a:xfrm>
            <a:off x="560070" y="4366367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numeric_cols</a:t>
            </a:r>
            <a:r>
              <a:rPr lang="en-IN" dirty="0"/>
              <a:t> = </a:t>
            </a:r>
            <a:r>
              <a:rPr lang="en-IN" dirty="0" err="1"/>
              <a:t>df.select_dtypes</a:t>
            </a:r>
            <a:r>
              <a:rPr lang="en-IN" dirty="0"/>
              <a:t>(include='number').</a:t>
            </a:r>
            <a:r>
              <a:rPr lang="en-IN" dirty="0" err="1"/>
              <a:t>columns.drop</a:t>
            </a:r>
            <a:r>
              <a:rPr lang="en-IN" dirty="0"/>
              <a:t>('</a:t>
            </a:r>
            <a:r>
              <a:rPr lang="en-IN" dirty="0" err="1"/>
              <a:t>loan_id</a:t>
            </a:r>
            <a:r>
              <a:rPr lang="en-IN" dirty="0"/>
              <a:t>')</a:t>
            </a:r>
          </a:p>
          <a:p>
            <a:r>
              <a:rPr lang="en-IN" dirty="0" err="1"/>
              <a:t>corr</a:t>
            </a:r>
            <a:r>
              <a:rPr lang="en-IN" dirty="0"/>
              <a:t> = </a:t>
            </a:r>
            <a:r>
              <a:rPr lang="en-IN" dirty="0" err="1"/>
              <a:t>df</a:t>
            </a:r>
            <a:r>
              <a:rPr lang="en-IN" dirty="0"/>
              <a:t>[</a:t>
            </a:r>
            <a:r>
              <a:rPr lang="en-IN" dirty="0" err="1"/>
              <a:t>numeric_cols</a:t>
            </a:r>
            <a:r>
              <a:rPr lang="en-IN" dirty="0"/>
              <a:t>].</a:t>
            </a:r>
            <a:r>
              <a:rPr lang="en-IN" dirty="0" err="1"/>
              <a:t>corr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4466617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089CB64-B03F-5FC9-824C-AC59DEE79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0" y="84505"/>
            <a:ext cx="1392594" cy="51724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10FF654-AF39-27CA-D478-5ADFE29D760A}"/>
              </a:ext>
            </a:extLst>
          </p:cNvPr>
          <p:cNvSpPr txBox="1"/>
          <p:nvPr/>
        </p:nvSpPr>
        <p:spPr>
          <a:xfrm>
            <a:off x="614632" y="940103"/>
            <a:ext cx="6910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>
                <a:solidFill>
                  <a:schemeClr val="accent1">
                    <a:lumMod val="75000"/>
                  </a:schemeClr>
                </a:solidFill>
              </a:rPr>
              <a:t>Loan Status Distribution</a:t>
            </a:r>
            <a:endParaRPr lang="en-US" sz="32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123116-5F13-EBA9-9C97-937EE39192A0}"/>
              </a:ext>
            </a:extLst>
          </p:cNvPr>
          <p:cNvSpPr txBox="1"/>
          <p:nvPr/>
        </p:nvSpPr>
        <p:spPr>
          <a:xfrm>
            <a:off x="614632" y="1801338"/>
            <a:ext cx="609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/>
              <a:t>Most loan applications were approved.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/>
              <a:t>Approved applications are higher than rejected applications.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/>
              <a:t>The dataset contains both approved and rejected applications.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/>
              <a:t>Loan status is the target variable for prediction.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6A70A-57FF-6E16-530C-E2A919D63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194" y="601754"/>
            <a:ext cx="5006774" cy="421422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2F1214-8CC3-EB83-774B-7F378E829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0" y="84505"/>
            <a:ext cx="1392594" cy="5172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0B4F80-5CDA-553F-673A-BF3D15040A0E}"/>
              </a:ext>
            </a:extLst>
          </p:cNvPr>
          <p:cNvSpPr txBox="1"/>
          <p:nvPr/>
        </p:nvSpPr>
        <p:spPr>
          <a:xfrm>
            <a:off x="3397729" y="2098177"/>
            <a:ext cx="18473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600"/>
          </a:p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85DA87-7BF4-A81B-9D2F-9BDFE7C36463}"/>
              </a:ext>
            </a:extLst>
          </p:cNvPr>
          <p:cNvSpPr txBox="1"/>
          <p:nvPr/>
        </p:nvSpPr>
        <p:spPr>
          <a:xfrm>
            <a:off x="535179" y="734047"/>
            <a:ext cx="6094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Credit Group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8BDC97-DCA7-CBD4-D429-819834CF06B7}"/>
              </a:ext>
            </a:extLst>
          </p:cNvPr>
          <p:cNvSpPr txBox="1"/>
          <p:nvPr/>
        </p:nvSpPr>
        <p:spPr>
          <a:xfrm>
            <a:off x="365760" y="1593828"/>
            <a:ext cx="626398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• Compared loan applicants across different credit score groups. </a:t>
            </a:r>
          </a:p>
          <a:p>
            <a:pPr lvl="0"/>
            <a:r>
              <a:rPr lang="en-IN" dirty="0"/>
              <a:t>• High-credit applicants have significantly more approved loans. </a:t>
            </a:r>
          </a:p>
          <a:p>
            <a:pPr lvl="0"/>
            <a:r>
              <a:rPr lang="en-IN" dirty="0"/>
              <a:t>• Low-credit applicants have more rejected loans. </a:t>
            </a:r>
          </a:p>
          <a:p>
            <a:pPr lvl="0"/>
            <a:r>
              <a:rPr lang="en-IN" dirty="0"/>
              <a:t>• Mid-credit applicants show a more balanced distribution. </a:t>
            </a:r>
          </a:p>
          <a:p>
            <a:pPr lvl="0"/>
            <a:r>
              <a:rPr lang="en-IN" dirty="0"/>
              <a:t>• Credit score shows a strong relationship with loan status and can be considered an important feature for loan prediction</a:t>
            </a:r>
            <a:r>
              <a:rPr lang="en-IN" b="1" dirty="0"/>
              <a:t>.</a:t>
            </a:r>
            <a:endParaRPr lang="en-IN" dirty="0"/>
          </a:p>
          <a:p>
            <a:pPr lvl="0"/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1D9DBB-3309-C96C-94D4-DFDE838FE5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42263" y="734047"/>
            <a:ext cx="4981730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222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79"/>
            <a:ext cx="3011922" cy="1086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/>
          </a:p>
        </p:txBody>
      </p:sp>
      <p:sp>
        <p:nvSpPr>
          <p:cNvPr id="3" name="Text 1"/>
          <p:cNvSpPr/>
          <p:nvPr/>
        </p:nvSpPr>
        <p:spPr>
          <a:xfrm>
            <a:off x="3332895" y="37719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981151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AA145B-3EF8-5FFE-621C-B870A435C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0" y="84505"/>
            <a:ext cx="1392594" cy="5172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1EAFA1-C1C6-6279-3AEF-0C6455D98C03}"/>
              </a:ext>
            </a:extLst>
          </p:cNvPr>
          <p:cNvSpPr txBox="1"/>
          <p:nvPr/>
        </p:nvSpPr>
        <p:spPr>
          <a:xfrm>
            <a:off x="701759" y="818692"/>
            <a:ext cx="6094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solidFill>
                  <a:schemeClr val="accent1">
                    <a:lumMod val="75000"/>
                  </a:schemeClr>
                </a:solidFill>
              </a:rPr>
              <a:t>Initial Implementation &amp; Progress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D9048E-67F9-4E11-615D-2F58A5C87849}"/>
              </a:ext>
            </a:extLst>
          </p:cNvPr>
          <p:cNvSpPr txBox="1"/>
          <p:nvPr/>
        </p:nvSpPr>
        <p:spPr>
          <a:xfrm>
            <a:off x="787601" y="1739976"/>
            <a:ext cx="60945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Loaded and explored the loan dataset using </a:t>
            </a:r>
            <a:r>
              <a:rPr lang="en-IN" b="1" dirty="0"/>
              <a:t>Pandas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Verified dataset structure, features and data types.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Checked for missing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Checked for </a:t>
            </a:r>
            <a:r>
              <a:rPr lang="en-IN" b="1" dirty="0"/>
              <a:t>duplicate records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Performed </a:t>
            </a:r>
            <a:r>
              <a:rPr lang="en-IN" b="1" dirty="0"/>
              <a:t>Exploratory Data Analysis (EDA)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Analyzed</a:t>
            </a:r>
            <a:r>
              <a:rPr lang="en-IN" dirty="0"/>
              <a:t> </a:t>
            </a:r>
            <a:r>
              <a:rPr lang="en-IN" b="1" dirty="0"/>
              <a:t>loan status distribution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Studied relationships between numerical features using </a:t>
            </a:r>
            <a:r>
              <a:rPr lang="en-IN" b="1" dirty="0"/>
              <a:t>correlation analysis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Created visualizations using </a:t>
            </a:r>
            <a:r>
              <a:rPr lang="en-IN" b="1" dirty="0"/>
              <a:t>Matplotlib and Seaborn</a:t>
            </a:r>
            <a:r>
              <a:rPr lang="en-IN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6096AD-C205-9AAB-4739-56493E633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522188"/>
            <a:ext cx="4790349" cy="497283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F7699E-840C-E087-6774-F97FB9923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0" y="84505"/>
            <a:ext cx="1392594" cy="5172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D5399C-982E-E2AB-70F8-12BE2B5844AB}"/>
              </a:ext>
            </a:extLst>
          </p:cNvPr>
          <p:cNvSpPr txBox="1"/>
          <p:nvPr/>
        </p:nvSpPr>
        <p:spPr>
          <a:xfrm>
            <a:off x="606005" y="535640"/>
            <a:ext cx="6094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solidFill>
                  <a:schemeClr val="accent1">
                    <a:lumMod val="75000"/>
                  </a:schemeClr>
                </a:solidFill>
              </a:rPr>
              <a:t>Project Workflow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156A41-199E-BDDA-C594-CCB0C30B241E}"/>
              </a:ext>
            </a:extLst>
          </p:cNvPr>
          <p:cNvSpPr txBox="1"/>
          <p:nvPr/>
        </p:nvSpPr>
        <p:spPr>
          <a:xfrm>
            <a:off x="740617" y="1291178"/>
            <a:ext cx="6094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Dataset Collection</a:t>
            </a:r>
            <a:br>
              <a:rPr lang="en-IN" dirty="0"/>
            </a:br>
            <a:r>
              <a:rPr lang="en-IN" dirty="0"/>
              <a:t>Dataset collected in CSV format and loaded into Google </a:t>
            </a:r>
            <a:r>
              <a:rPr lang="en-IN" dirty="0" err="1"/>
              <a:t>Colab</a:t>
            </a:r>
            <a:r>
              <a:rPr lang="en-IN" dirty="0"/>
              <a:t> using Pandas. 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63E07-3216-8478-4124-E651EE35CA3E}"/>
              </a:ext>
            </a:extLst>
          </p:cNvPr>
          <p:cNvSpPr txBox="1"/>
          <p:nvPr/>
        </p:nvSpPr>
        <p:spPr>
          <a:xfrm>
            <a:off x="740617" y="2536558"/>
            <a:ext cx="6094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2. Data Preprocessing</a:t>
            </a:r>
            <a:br>
              <a:rPr lang="en-IN" dirty="0"/>
            </a:br>
            <a:r>
              <a:rPr lang="en-IN" dirty="0"/>
              <a:t>Checked missing values, duplicate records, data types, and dataset structure.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32B0FB-CB5B-276D-D00D-5AFEB6F4E763}"/>
              </a:ext>
            </a:extLst>
          </p:cNvPr>
          <p:cNvSpPr txBox="1"/>
          <p:nvPr/>
        </p:nvSpPr>
        <p:spPr>
          <a:xfrm>
            <a:off x="740617" y="3924390"/>
            <a:ext cx="6094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 Exploratory Data Analysis (EDA)</a:t>
            </a:r>
            <a:br>
              <a:rPr lang="en-IN" dirty="0"/>
            </a:br>
            <a:r>
              <a:rPr lang="en-IN" dirty="0" err="1"/>
              <a:t>Analyzed</a:t>
            </a:r>
            <a:r>
              <a:rPr lang="en-IN" dirty="0"/>
              <a:t> loan status, numerical features, and relationships between variables.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1518F3-38EB-91C8-D4CC-4467B6AE7A6F}"/>
              </a:ext>
            </a:extLst>
          </p:cNvPr>
          <p:cNvSpPr txBox="1"/>
          <p:nvPr/>
        </p:nvSpPr>
        <p:spPr>
          <a:xfrm>
            <a:off x="740617" y="5308929"/>
            <a:ext cx="6094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4. Visualization &amp; Analysis</a:t>
            </a:r>
            <a:br>
              <a:rPr lang="en-IN" dirty="0"/>
            </a:br>
            <a:r>
              <a:rPr lang="en-IN" dirty="0"/>
              <a:t>Created bar charts and correlation heatmap to identify important patterns.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51DA1C-5096-602B-234F-9FA6DDF0CF57}"/>
              </a:ext>
            </a:extLst>
          </p:cNvPr>
          <p:cNvSpPr txBox="1"/>
          <p:nvPr/>
        </p:nvSpPr>
        <p:spPr>
          <a:xfrm>
            <a:off x="6362239" y="5447428"/>
            <a:ext cx="60945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5. Loan Prediction – Next Phase</a:t>
            </a:r>
            <a:br>
              <a:rPr lang="en-IN" dirty="0"/>
            </a:br>
            <a:r>
              <a:rPr lang="en-IN" dirty="0"/>
              <a:t>Next Phase: Build and evaluate a loan prediction model using the </a:t>
            </a:r>
            <a:r>
              <a:rPr lang="en-IN" dirty="0" err="1"/>
              <a:t>preprocessed</a:t>
            </a:r>
            <a:r>
              <a:rPr lang="en-IN" dirty="0"/>
              <a:t> dataset.</a:t>
            </a:r>
          </a:p>
        </p:txBody>
      </p:sp>
    </p:spTree>
    <p:extLst>
      <p:ext uri="{BB962C8B-B14F-4D97-AF65-F5344CB8AC3E}">
        <p14:creationId xmlns:p14="http://schemas.microsoft.com/office/powerpoint/2010/main" val="265486366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  <a:spcAft>
                <a:spcPts val="1000"/>
              </a:spcAft>
              <a:buSzPct val="100000"/>
            </a:pPr>
            <a:endParaRPr lang="en-US" sz="155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981151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99393E-B8F0-6DC2-DE85-4A2CE4BCE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0" y="84505"/>
            <a:ext cx="1392594" cy="5172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050F98-AA2E-0BB9-A14F-894218578ECA}"/>
              </a:ext>
            </a:extLst>
          </p:cNvPr>
          <p:cNvSpPr txBox="1"/>
          <p:nvPr/>
        </p:nvSpPr>
        <p:spPr>
          <a:xfrm>
            <a:off x="581852" y="889754"/>
            <a:ext cx="6094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/>
              <a:t>Conclusion &amp; Future Scope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8D9608-2556-064B-58F9-3033F02DFD1F}"/>
              </a:ext>
            </a:extLst>
          </p:cNvPr>
          <p:cNvSpPr txBox="1"/>
          <p:nvPr/>
        </p:nvSpPr>
        <p:spPr>
          <a:xfrm>
            <a:off x="590478" y="14666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1">
                    <a:lumMod val="75000"/>
                  </a:schemeClr>
                </a:solidFill>
              </a:rPr>
              <a:t>Project Progress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51C25F-8412-871C-BB04-5D9D57C57B89}"/>
              </a:ext>
            </a:extLst>
          </p:cNvPr>
          <p:cNvSpPr txBox="1"/>
          <p:nvPr/>
        </p:nvSpPr>
        <p:spPr>
          <a:xfrm>
            <a:off x="581852" y="1920240"/>
            <a:ext cx="6094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• Loan dataset was collected and explored. </a:t>
            </a:r>
          </a:p>
          <a:p>
            <a:pPr lvl="0"/>
            <a:r>
              <a:rPr lang="en-IN" dirty="0"/>
              <a:t>• Data quality, missing values and duplicates were checked. </a:t>
            </a:r>
          </a:p>
          <a:p>
            <a:pPr lvl="0"/>
            <a:r>
              <a:rPr lang="en-IN" dirty="0"/>
              <a:t>• EDA and visualizations were performed. </a:t>
            </a:r>
          </a:p>
          <a:p>
            <a:pPr lvl="0"/>
            <a:r>
              <a:rPr lang="en-IN" dirty="0"/>
              <a:t>• Important relationships between features were identified.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9096C3-3A6A-12CE-D2DA-30DEA54AE1BC}"/>
              </a:ext>
            </a:extLst>
          </p:cNvPr>
          <p:cNvSpPr txBox="1"/>
          <p:nvPr/>
        </p:nvSpPr>
        <p:spPr>
          <a:xfrm>
            <a:off x="590478" y="3461676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1">
                    <a:lumMod val="75000"/>
                  </a:schemeClr>
                </a:solidFill>
              </a:rPr>
              <a:t>Future Scope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0BACB4-8922-B85B-8443-2CF6D0D34FCC}"/>
              </a:ext>
            </a:extLst>
          </p:cNvPr>
          <p:cNvSpPr txBox="1"/>
          <p:nvPr/>
        </p:nvSpPr>
        <p:spPr>
          <a:xfrm>
            <a:off x="548640" y="4044880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• Apply feature encoding and scaling. </a:t>
            </a:r>
          </a:p>
          <a:p>
            <a:pPr lvl="0"/>
            <a:r>
              <a:rPr lang="en-IN" dirty="0"/>
              <a:t>• Select important features. </a:t>
            </a:r>
          </a:p>
          <a:p>
            <a:pPr lvl="0"/>
            <a:r>
              <a:rPr lang="en-IN" dirty="0"/>
              <a:t>• Build a machine learning model for loan prediction. </a:t>
            </a:r>
          </a:p>
          <a:p>
            <a:pPr lvl="0"/>
            <a:r>
              <a:rPr lang="en-IN" dirty="0"/>
              <a:t>• Evaluate and improve model performance.</a:t>
            </a:r>
          </a:p>
          <a:p>
            <a:pPr lvl="0"/>
            <a:endParaRPr lang="en-IN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1179</Words>
  <Application>Microsoft Office PowerPoint</Application>
  <PresentationFormat>Widescreen</PresentationFormat>
  <Paragraphs>155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Rohith Bandi</cp:lastModifiedBy>
  <cp:revision>10</cp:revision>
  <dcterms:created xsi:type="dcterms:W3CDTF">2026-08-07T05:56:06Z</dcterms:created>
  <dcterms:modified xsi:type="dcterms:W3CDTF">2026-08-15T20:45:01Z</dcterms:modified>
</cp:coreProperties>
</file>